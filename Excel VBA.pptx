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bold.fntdata"/><Relationship Id="rId6" Type="http://schemas.openxmlformats.org/officeDocument/2006/relationships/slide" Target="slides/slide1.xml"/><Relationship Id="rId18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47cc5fe1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47cc5fe1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47cc5fe1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47cc5fe1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47cc5fe1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47cc5fe1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47cc5fe1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47cc5fe1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47cc5fe1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47cc5fe1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47cc5fe1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47cc5fe1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47cc5fe1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47cc5fe1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Excel VBA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Automate, Customize, and Scale Your Spreadsheets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Excel VBA?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VBA</a:t>
            </a:r>
            <a:r>
              <a:rPr lang="en-GB" sz="1100">
                <a:solidFill>
                  <a:schemeClr val="dk1"/>
                </a:solidFill>
              </a:rPr>
              <a:t> stands for </a:t>
            </a:r>
            <a:r>
              <a:rPr b="1" lang="en-GB" sz="1100">
                <a:solidFill>
                  <a:schemeClr val="dk1"/>
                </a:solidFill>
              </a:rPr>
              <a:t>Visual Basic for Applications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It is an </a:t>
            </a:r>
            <a:r>
              <a:rPr b="1" lang="en-GB" sz="1100">
                <a:solidFill>
                  <a:schemeClr val="dk1"/>
                </a:solidFill>
              </a:rPr>
              <a:t>event-driven</a:t>
            </a:r>
            <a:r>
              <a:rPr lang="en-GB" sz="1100">
                <a:solidFill>
                  <a:schemeClr val="dk1"/>
                </a:solidFill>
              </a:rPr>
              <a:t> programming language.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It's </a:t>
            </a:r>
            <a:r>
              <a:rPr b="1" lang="en-GB" sz="1100">
                <a:solidFill>
                  <a:schemeClr val="dk1"/>
                </a:solidFill>
              </a:rPr>
              <a:t>built into</a:t>
            </a:r>
            <a:r>
              <a:rPr lang="en-GB" sz="1100">
                <a:solidFill>
                  <a:schemeClr val="dk1"/>
                </a:solidFill>
              </a:rPr>
              <a:t> most Microsoft Office applications (Excel, Word, Access, etc.).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In Excel:</a:t>
            </a:r>
            <a:r>
              <a:rPr lang="en-GB" sz="1100">
                <a:solidFill>
                  <a:schemeClr val="dk1"/>
                </a:solidFill>
              </a:rPr>
              <a:t> It allows you to </a:t>
            </a:r>
            <a:r>
              <a:rPr b="1" lang="en-GB" sz="1100">
                <a:solidFill>
                  <a:schemeClr val="dk1"/>
                </a:solidFill>
              </a:rPr>
              <a:t>automate repetitive tasks</a:t>
            </a:r>
            <a:r>
              <a:rPr lang="en-GB" sz="1100">
                <a:solidFill>
                  <a:schemeClr val="dk1"/>
                </a:solidFill>
              </a:rPr>
              <a:t>, create custom functions, and build user interfaces.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The Goal:</a:t>
            </a:r>
            <a:r>
              <a:rPr lang="en-GB" sz="1100">
                <a:solidFill>
                  <a:schemeClr val="dk1"/>
                </a:solidFill>
              </a:rPr>
              <a:t> Effectively </a:t>
            </a:r>
            <a:r>
              <a:rPr b="1" lang="en-GB" sz="1100">
                <a:solidFill>
                  <a:schemeClr val="dk1"/>
                </a:solidFill>
              </a:rPr>
              <a:t>extend the capabilities</a:t>
            </a:r>
            <a:r>
              <a:rPr lang="en-GB" sz="1100">
                <a:solidFill>
                  <a:schemeClr val="dk1"/>
                </a:solidFill>
              </a:rPr>
              <a:t> of the standard Excel application.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Concepts: The VBA Ecosystem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Automation:</a:t>
            </a:r>
            <a:r>
              <a:rPr lang="en-GB" sz="1100">
                <a:solidFill>
                  <a:schemeClr val="dk1"/>
                </a:solidFill>
              </a:rPr>
              <a:t> The core use—running routine, multi-step tasks without manual intervention. *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Macros:</a:t>
            </a:r>
            <a:r>
              <a:rPr lang="en-GB" sz="1100">
                <a:solidFill>
                  <a:schemeClr val="dk1"/>
                </a:solidFill>
              </a:rPr>
              <a:t> The common term for a set of </a:t>
            </a:r>
            <a:r>
              <a:rPr b="1" lang="en-GB" sz="1100">
                <a:solidFill>
                  <a:schemeClr val="dk1"/>
                </a:solidFill>
              </a:rPr>
              <a:t>VBA code instructions</a:t>
            </a:r>
            <a:r>
              <a:rPr lang="en-GB" sz="1100">
                <a:solidFill>
                  <a:schemeClr val="dk1"/>
                </a:solidFill>
              </a:rPr>
              <a:t>. Can be recorded or manually written. *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Visual Basic Editor (VBE):</a:t>
            </a:r>
            <a:r>
              <a:rPr lang="en-GB" sz="1100">
                <a:solidFill>
                  <a:schemeClr val="dk1"/>
                </a:solidFill>
              </a:rPr>
              <a:t> The Integrated Development Environment (IDE) where you write, edit, and manage code. *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chemeClr val="dk1"/>
                </a:solidFill>
              </a:rPr>
              <a:t>Access Shortcut:</a:t>
            </a:r>
            <a:r>
              <a:rPr i="1" lang="en-GB" sz="1100">
                <a:solidFill>
                  <a:schemeClr val="dk1"/>
                </a:solidFill>
              </a:rPr>
              <a:t> </a:t>
            </a:r>
            <a:r>
              <a:rPr b="1" i="1" lang="en-GB" sz="1100">
                <a:solidFill>
                  <a:schemeClr val="dk1"/>
                </a:solidFill>
              </a:rPr>
              <a:t>Alt + F11</a:t>
            </a:r>
            <a:r>
              <a:rPr lang="en-GB" sz="1100">
                <a:solidFill>
                  <a:schemeClr val="dk1"/>
                </a:solidFill>
              </a:rPr>
              <a:t> *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Events:</a:t>
            </a:r>
            <a:r>
              <a:rPr lang="en-GB" sz="1100">
                <a:solidFill>
                  <a:schemeClr val="dk1"/>
                </a:solidFill>
              </a:rPr>
              <a:t> Actions that trigger code execution (e.g., opening a workbook, clicking a button, changing a cell).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Concepts: O-P-M (Objects, Properties, Methods)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Objects - Elements we manipulate.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Examples: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Application</a:t>
            </a:r>
            <a:r>
              <a:rPr i="1" lang="en-GB" sz="1100">
                <a:solidFill>
                  <a:schemeClr val="dk1"/>
                </a:solidFill>
              </a:rPr>
              <a:t>,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Workbook</a:t>
            </a:r>
            <a:r>
              <a:rPr i="1" lang="en-GB" sz="1100">
                <a:solidFill>
                  <a:schemeClr val="dk1"/>
                </a:solidFill>
              </a:rPr>
              <a:t>,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Worksheet</a:t>
            </a:r>
            <a:r>
              <a:rPr i="1" lang="en-GB" sz="1100">
                <a:solidFill>
                  <a:schemeClr val="dk1"/>
                </a:solidFill>
              </a:rPr>
              <a:t>,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Properties - Attributes</a:t>
            </a:r>
            <a:r>
              <a:rPr lang="en-GB" sz="1100">
                <a:solidFill>
                  <a:schemeClr val="dk1"/>
                </a:solidFill>
              </a:rPr>
              <a:t> of an object (what it </a:t>
            </a:r>
            <a:r>
              <a:rPr b="1" lang="en-GB" sz="1100">
                <a:solidFill>
                  <a:schemeClr val="dk1"/>
                </a:solidFill>
              </a:rPr>
              <a:t>is</a:t>
            </a:r>
            <a:r>
              <a:rPr lang="en-GB" sz="1100">
                <a:solidFill>
                  <a:schemeClr val="dk1"/>
                </a:solidFill>
              </a:rPr>
              <a:t>).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Example: A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i="1" lang="en-GB" sz="1100">
                <a:solidFill>
                  <a:schemeClr val="dk1"/>
                </a:solidFill>
              </a:rPr>
              <a:t> object has a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i="1" lang="en-GB" sz="1100">
                <a:solidFill>
                  <a:schemeClr val="dk1"/>
                </a:solidFill>
              </a:rPr>
              <a:t> property, a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Worksheet</a:t>
            </a:r>
            <a:r>
              <a:rPr i="1" lang="en-GB" sz="1100">
                <a:solidFill>
                  <a:schemeClr val="dk1"/>
                </a:solidFill>
              </a:rPr>
              <a:t> has a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i="1" lang="en-GB" sz="1100">
                <a:solidFill>
                  <a:schemeClr val="dk1"/>
                </a:solidFill>
              </a:rPr>
              <a:t> property.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Methods - Actions</a:t>
            </a:r>
            <a:r>
              <a:rPr lang="en-GB" sz="1100">
                <a:solidFill>
                  <a:schemeClr val="dk1"/>
                </a:solidFill>
              </a:rPr>
              <a:t> an object can perform (what it </a:t>
            </a:r>
            <a:r>
              <a:rPr b="1" lang="en-GB" sz="1100">
                <a:solidFill>
                  <a:schemeClr val="dk1"/>
                </a:solidFill>
              </a:rPr>
              <a:t>does</a:t>
            </a:r>
            <a:r>
              <a:rPr lang="en-GB" sz="1100">
                <a:solidFill>
                  <a:schemeClr val="dk1"/>
                </a:solidFill>
              </a:rPr>
              <a:t>).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Example: A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Workbook</a:t>
            </a:r>
            <a:r>
              <a:rPr i="1" lang="en-GB" sz="1100">
                <a:solidFill>
                  <a:schemeClr val="dk1"/>
                </a:solidFill>
              </a:rPr>
              <a:t> has a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Save</a:t>
            </a:r>
            <a:r>
              <a:rPr i="1" lang="en-GB" sz="1100">
                <a:solidFill>
                  <a:schemeClr val="dk1"/>
                </a:solidFill>
              </a:rPr>
              <a:t> method, a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i="1" lang="en-GB" sz="1100">
                <a:solidFill>
                  <a:schemeClr val="dk1"/>
                </a:solidFill>
              </a:rPr>
              <a:t> has a </a:t>
            </a:r>
            <a:r>
              <a:rPr i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Copy</a:t>
            </a:r>
            <a:r>
              <a:rPr i="1" lang="en-GB" sz="1100">
                <a:solidFill>
                  <a:schemeClr val="dk1"/>
                </a:solidFill>
              </a:rPr>
              <a:t> method.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Example: Worksheets("Sheet1").Range("A1").Value = "Hello"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Use Excel VBA? (Benefits)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GB" sz="1200">
                <a:solidFill>
                  <a:schemeClr val="dk1"/>
                </a:solidFill>
              </a:rPr>
              <a:t>Increased Efficiency - </a:t>
            </a:r>
            <a:r>
              <a:rPr lang="en-GB" sz="1200">
                <a:solidFill>
                  <a:schemeClr val="dk1"/>
                </a:solidFill>
              </a:rPr>
              <a:t>Run complex, multi-step processes with a single click.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GB" sz="1200">
                <a:solidFill>
                  <a:schemeClr val="dk1"/>
                </a:solidFill>
              </a:rPr>
              <a:t>Customization - </a:t>
            </a:r>
            <a:r>
              <a:rPr lang="en-GB" sz="1200">
                <a:solidFill>
                  <a:schemeClr val="dk1"/>
                </a:solidFill>
              </a:rPr>
              <a:t>Create custom functions (</a:t>
            </a:r>
            <a:r>
              <a:rPr b="1" lang="en-GB" sz="1200">
                <a:solidFill>
                  <a:schemeClr val="dk1"/>
                </a:solidFill>
              </a:rPr>
              <a:t>UDFs</a:t>
            </a:r>
            <a:r>
              <a:rPr lang="en-GB" sz="1200">
                <a:solidFill>
                  <a:schemeClr val="dk1"/>
                </a:solidFill>
              </a:rPr>
              <a:t>) and dialog boxes not available by default.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GB" sz="1200">
                <a:solidFill>
                  <a:schemeClr val="dk1"/>
                </a:solidFill>
              </a:rPr>
              <a:t>Handling Large Data - </a:t>
            </a:r>
            <a:r>
              <a:rPr lang="en-GB" sz="1200">
                <a:solidFill>
                  <a:schemeClr val="dk1"/>
                </a:solidFill>
              </a:rPr>
              <a:t>Faster and more sophisticated data cleaning, analysis, and manipulation.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GB" sz="1200">
                <a:solidFill>
                  <a:schemeClr val="dk1"/>
                </a:solidFill>
              </a:rPr>
              <a:t>Error Reduction - </a:t>
            </a:r>
            <a:r>
              <a:rPr lang="en-GB" sz="1200">
                <a:solidFill>
                  <a:schemeClr val="dk1"/>
                </a:solidFill>
              </a:rPr>
              <a:t>Automated processes are less prone to human error than manual steps.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Advanced Topic: Connecting to Mainframe (PCOMM)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Connecting Excel VBA to a mainframe PCOMM application enables </a:t>
            </a:r>
            <a:r>
              <a:rPr b="1" lang="en-GB" sz="1100">
                <a:solidFill>
                  <a:schemeClr val="dk1"/>
                </a:solidFill>
              </a:rPr>
              <a:t>end-to-end automation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is done using an OLE/COM Automation Interface.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Recommended Method: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HACL (Host Access Class Library)</a:t>
            </a:r>
            <a:r>
              <a:rPr lang="en-GB" sz="1100">
                <a:solidFill>
                  <a:schemeClr val="dk1"/>
                </a:solidFill>
              </a:rPr>
              <a:t> for ease of use in VBA.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HACL provides objects to control the terminal session: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autECLSession/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autECLConnList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(Represents Session/A collection of all active Mainframe connections)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autECLPS</a:t>
            </a:r>
            <a:r>
              <a:rPr lang="en-GB" sz="1100">
                <a:solidFill>
                  <a:schemeClr val="dk1"/>
                </a:solidFill>
              </a:rPr>
              <a:t> (Presentation Space - for reading/writing the screen)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autECLOIA</a:t>
            </a:r>
            <a:r>
              <a:rPr lang="en-GB" sz="1100">
                <a:solidFill>
                  <a:schemeClr val="dk1"/>
                </a:solidFill>
              </a:rPr>
              <a:t> (Operator Information Area - for status checks)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PCOMM HACL Step 1: Set the VBA Project Reference</a:t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Instructions - </a:t>
            </a:r>
            <a:r>
              <a:rPr lang="en-GB" sz="1100">
                <a:solidFill>
                  <a:schemeClr val="dk1"/>
                </a:solidFill>
              </a:rPr>
              <a:t>You must first tell your VBA project how to use the PCOMM objects: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Step 1 - </a:t>
            </a:r>
            <a:r>
              <a:rPr lang="en-GB" sz="1100">
                <a:solidFill>
                  <a:schemeClr val="dk1"/>
                </a:solidFill>
              </a:rPr>
              <a:t>Open the Visual Basic Editor (</a:t>
            </a:r>
            <a:r>
              <a:rPr b="1" lang="en-GB" sz="1100">
                <a:solidFill>
                  <a:schemeClr val="dk1"/>
                </a:solidFill>
              </a:rPr>
              <a:t>Alt + F11</a:t>
            </a:r>
            <a:r>
              <a:rPr lang="en-GB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Step 2 - </a:t>
            </a:r>
            <a:r>
              <a:rPr lang="en-GB" sz="1100">
                <a:solidFill>
                  <a:schemeClr val="dk1"/>
                </a:solidFill>
              </a:rPr>
              <a:t>Go to </a:t>
            </a:r>
            <a:r>
              <a:rPr b="1" lang="en-GB" sz="1100">
                <a:solidFill>
                  <a:schemeClr val="dk1"/>
                </a:solidFill>
              </a:rPr>
              <a:t>Tools</a:t>
            </a:r>
            <a:r>
              <a:rPr lang="en-GB" sz="1100">
                <a:solidFill>
                  <a:schemeClr val="dk1"/>
                </a:solidFill>
              </a:rPr>
              <a:t> $\rightarrow$ </a:t>
            </a:r>
            <a:r>
              <a:rPr b="1" lang="en-GB" sz="1100">
                <a:solidFill>
                  <a:schemeClr val="dk1"/>
                </a:solidFill>
              </a:rPr>
              <a:t>References…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Step 3 - </a:t>
            </a:r>
            <a:r>
              <a:rPr lang="en-GB" sz="1100">
                <a:solidFill>
                  <a:schemeClr val="dk1"/>
                </a:solidFill>
              </a:rPr>
              <a:t>Check the boxes for the necessary PCOMM libraries: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b="1" lang="en-GB" sz="1100">
                <a:solidFill>
                  <a:schemeClr val="dk1"/>
                </a:solidFill>
              </a:rPr>
              <a:t>PCOMM autECLSession Automation Object Library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b="1" lang="en-GB" sz="1100">
                <a:solidFill>
                  <a:schemeClr val="dk1"/>
                </a:solidFill>
              </a:rPr>
              <a:t>PCOMM autECLPS Automation Object Library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b="1" lang="en-GB" sz="1100">
                <a:solidFill>
                  <a:schemeClr val="dk1"/>
                </a:solidFill>
              </a:rPr>
              <a:t>PCOMM autECLOIA Automation Object Library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and Next Steps</a:t>
            </a:r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Key Takeaway</a:t>
            </a:r>
            <a:endParaRPr b="1"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VBA is a powerful tool to turn manual, repetitive tasks into one-click automations.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Call to Action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Enable the Developer Tab</a:t>
            </a:r>
            <a:r>
              <a:rPr lang="en-GB" sz="1100">
                <a:solidFill>
                  <a:schemeClr val="dk1"/>
                </a:solidFill>
              </a:rPr>
              <a:t> in Excel options.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Press </a:t>
            </a:r>
            <a:r>
              <a:rPr b="1" lang="en-GB" sz="1100">
                <a:solidFill>
                  <a:schemeClr val="dk1"/>
                </a:solidFill>
              </a:rPr>
              <a:t>Alt + F11</a:t>
            </a:r>
            <a:r>
              <a:rPr lang="en-GB" sz="1100">
                <a:solidFill>
                  <a:schemeClr val="dk1"/>
                </a:solidFill>
              </a:rPr>
              <a:t> to explore the Visual Basic Editor.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Try </a:t>
            </a:r>
            <a:r>
              <a:rPr b="1" lang="en-GB" sz="1100">
                <a:solidFill>
                  <a:schemeClr val="dk1"/>
                </a:solidFill>
              </a:rPr>
              <a:t>to generate your first macro!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